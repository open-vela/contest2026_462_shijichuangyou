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9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200">
                <a:solidFill>
                  <a:srgbClr val="FFFFFF"/>
                </a:solidFill>
                <a:latin typeface="DejaVu Sans"/>
                <a:ea typeface="Noto Sans CJK SC"/>
              </a:rPr>
              <a:t>拾迹创游 · 互动电子吧唧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>
                <a:solidFill>
                  <a:srgbClr val="FFFFFF"/>
                </a:solidFill>
                <a:latin typeface="DejaVu Sans"/>
                <a:ea typeface="Noto Sans CJK SC"/>
              </a:rPr>
              <a:t>可佩戴的二次元电子徽章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DejaVu Sans"/>
                <a:ea typeface="Noto Sans CJK SC"/>
              </a:rPr>
              <a:t>赛道：AI 硬件产品创新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DejaVu Sans"/>
                <a:ea typeface="Noto Sans CJK SC"/>
              </a:rPr>
              <a:t>openvela / NuttX + LVGL 9.1　·　黄山派 SF32LB52　·　390×450 AMOLED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>
                <a:solidFill>
                  <a:srgbClr val="2B2B3A"/>
                </a:solidFill>
                <a:latin typeface="DejaVu Sans"/>
                <a:ea typeface="Noto Sans CJK SC"/>
              </a:rPr>
              <a:t>徽章是死的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6A6A7A"/>
                </a:solidFill>
                <a:latin typeface="DejaVu Sans"/>
                <a:ea typeface="Noto Sans CJK SC"/>
              </a:rPr>
              <a:t>二次元最常见的表达物，却不会回应你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9107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>
                <a:solidFill>
                  <a:srgbClr val="6A6A7A"/>
                </a:solidFill>
                <a:latin typeface="DejaVu Sans"/>
                <a:ea typeface="Noto Sans CJK SC"/>
              </a:rPr>
              <a:t>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4577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>
                <a:solidFill>
                  <a:srgbClr val="FF6B9D"/>
                </a:solidFill>
                <a:latin typeface="DejaVu Sans"/>
                <a:ea typeface="Noto Sans CJK SC"/>
              </a:rPr>
              <a:t>● 徽章是死的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550">
                <a:solidFill>
                  <a:srgbClr val="2B2B3A"/>
                </a:solidFill>
                <a:latin typeface="DejaVu Sans"/>
                <a:ea typeface="Noto Sans CJK SC"/>
              </a:rPr>
              <a:t>   吧唧、徽章是二次元最常见的表达物，但它只能印一张静态图，带上街之后不会回应你。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>
                <a:solidFill>
                  <a:srgbClr val="FF6B9D"/>
                </a:solidFill>
                <a:latin typeface="DejaVu Sans"/>
                <a:ea typeface="Noto Sans CJK SC"/>
              </a:rPr>
              <a:t>● 陪伴类设备依赖手机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550">
                <a:solidFill>
                  <a:srgbClr val="2B2B3A"/>
                </a:solidFill>
                <a:latin typeface="DejaVu Sans"/>
                <a:ea typeface="Noto Sans CJK SC"/>
              </a:rPr>
              <a:t>   现有电子宠物/电子吧唧几乎都要连 App 配网、登录、同步，脱离手机就是一块砖。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>
                <a:solidFill>
                  <a:srgbClr val="FF6B9D"/>
                </a:solidFill>
                <a:latin typeface="DejaVu Sans"/>
                <a:ea typeface="Noto Sans CJK SC"/>
              </a:rPr>
              <a:t>● 续航与「常亮」矛盾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550">
                <a:solidFill>
                  <a:srgbClr val="2B2B3A"/>
                </a:solidFill>
                <a:latin typeface="DejaVu Sans"/>
                <a:ea typeface="Noto Sans CJK SC"/>
              </a:rPr>
              <a:t>   想让屏幕一直显示，就得一直耗电；想省电，就得接受一块黑屏。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>
                <a:solidFill>
                  <a:srgbClr val="2B2B3A"/>
                </a:solidFill>
                <a:latin typeface="DejaVu Sans"/>
                <a:ea typeface="Noto Sans CJK SC"/>
              </a:rPr>
              <a:t>一块会回应的吧唧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6A6A7A"/>
                </a:solidFill>
                <a:latin typeface="DejaVu Sans"/>
                <a:ea typeface="Noto Sans CJK SC"/>
              </a:rPr>
              <a:t>戴在身上的陪伴物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9107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>
                <a:solidFill>
                  <a:srgbClr val="6A6A7A"/>
                </a:solidFill>
                <a:latin typeface="DejaVu Sans"/>
                <a:ea typeface="Noto Sans CJK SC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>
                <a:solidFill>
                  <a:srgbClr val="2B2B3A"/>
                </a:solidFill>
                <a:latin typeface="DejaVu Sans"/>
                <a:ea typeface="Noto Sans CJK SC"/>
              </a:rPr>
              <a:t>一块可佩戴的电子吧唧：三位二次元角色陪着你看时间、留一句话、数纪念日，摇一摇会有反应。运行在 openvela / NuttX + LVGL 9.1，390×450 AMOLED，全中文界面，开机即用、不依赖手机与网络。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>
                <a:solidFill>
                  <a:srgbClr val="FF6B9D"/>
                </a:solidFill>
                <a:latin typeface="DejaVu Sans"/>
                <a:ea typeface="Noto Sans CJK SC"/>
              </a:rPr>
              <a:t>● 开机即用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50">
                <a:solidFill>
                  <a:srgbClr val="2B2B3A"/>
                </a:solidFill>
                <a:latin typeface="DejaVu Sans"/>
                <a:ea typeface="Noto Sans CJK SC"/>
              </a:rPr>
              <a:t>   不需要配网、登录、连手机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>
                <a:solidFill>
                  <a:srgbClr val="FF6B9D"/>
                </a:solidFill>
                <a:latin typeface="DejaVu Sans"/>
                <a:ea typeface="Noto Sans CJK SC"/>
              </a:rPr>
              <a:t>● 全中文界面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50">
                <a:solidFill>
                  <a:srgbClr val="2B2B3A"/>
                </a:solidFill>
                <a:latin typeface="DejaVu Sans"/>
                <a:ea typeface="Noto Sans CJK SC"/>
              </a:rPr>
              <a:t>   面向中文二次元用户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>
                <a:solidFill>
                  <a:srgbClr val="FF6B9D"/>
                </a:solidFill>
                <a:latin typeface="DejaVu Sans"/>
                <a:ea typeface="Noto Sans CJK SC"/>
              </a:rPr>
              <a:t>● 离线可用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50">
                <a:solidFill>
                  <a:srgbClr val="2B2B3A"/>
                </a:solidFill>
                <a:latin typeface="DejaVu Sans"/>
                <a:ea typeface="Noto Sans CJK SC"/>
              </a:rPr>
              <a:t>   所有内容内嵌在设备里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>
                <a:solidFill>
                  <a:srgbClr val="2B2B3A"/>
                </a:solidFill>
                <a:latin typeface="DejaVu Sans"/>
                <a:ea typeface="Noto Sans CJK SC"/>
              </a:rPr>
              <a:t>核心功能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6A6A7A"/>
                </a:solidFill>
                <a:latin typeface="DejaVu Sans"/>
                <a:ea typeface="Noto Sans CJK SC"/>
              </a:rPr>
              <a:t>三个角色 · 八项能力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9107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>
                <a:solidFill>
                  <a:srgbClr val="6A6A7A"/>
                </a:solidFill>
                <a:latin typeface="DejaVu Sans"/>
                <a:ea typeface="Noto Sans CJK SC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50">
                <a:solidFill>
                  <a:srgbClr val="FF6B9D"/>
                </a:solidFill>
                <a:latin typeface="DejaVu Sans"/>
                <a:ea typeface="Noto Sans CJK SC"/>
              </a:rPr>
              <a:t>● 三个角色，三种性格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2B2B3A"/>
                </a:solidFill>
                <a:latin typeface="DejaVu Sans"/>
                <a:ea typeface="Noto Sans CJK SC"/>
              </a:rPr>
              <a:t>   苔苔、霜霜、灯灯三套内容，头像、配色、语气、装饰各不相同，左右滑动切换。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50">
                <a:solidFill>
                  <a:srgbClr val="FF6B9D"/>
                </a:solidFill>
                <a:latin typeface="DejaVu Sans"/>
                <a:ea typeface="Noto Sans CJK SC"/>
              </a:rPr>
              <a:t>● 会看时间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2B2B3A"/>
                </a:solidFill>
                <a:latin typeface="DejaVu Sans"/>
                <a:ea typeface="Noto Sans CJK SC"/>
              </a:rPr>
              <a:t>   四时段问候（清晨/午后/黄昏/深夜），日期与农历、纪念日倒数。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50">
                <a:solidFill>
                  <a:srgbClr val="FF6B9D"/>
                </a:solidFill>
                <a:latin typeface="DejaVu Sans"/>
                <a:ea typeface="Noto Sans CJK SC"/>
              </a:rPr>
              <a:t>● 会听你说话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2B2B3A"/>
                </a:solidFill>
                <a:latin typeface="DejaVu Sans"/>
                <a:ea typeface="Noto Sans CJK SC"/>
              </a:rPr>
              <a:t>   内置中文输入，可以留一句话在徽章上；留言持久化保存。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50">
                <a:solidFill>
                  <a:srgbClr val="FF6B9D"/>
                </a:solidFill>
                <a:latin typeface="DejaVu Sans"/>
                <a:ea typeface="Noto Sans CJK SC"/>
              </a:rPr>
              <a:t>● 会数日子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2B2B3A"/>
                </a:solidFill>
                <a:latin typeface="DejaVu Sans"/>
                <a:ea typeface="Noto Sans CJK SC"/>
              </a:rPr>
              <a:t>   纪念日管理：新增、编辑、删除，自动算天数与倒数。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50">
                <a:solidFill>
                  <a:srgbClr val="FF6B9D"/>
                </a:solidFill>
                <a:latin typeface="DejaVu Sans"/>
                <a:ea typeface="Noto Sans CJK SC"/>
              </a:rPr>
              <a:t>● 点一下有反应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2B2B3A"/>
                </a:solidFill>
                <a:latin typeface="DejaVu Sans"/>
                <a:ea typeface="Noto Sans CJK SC"/>
              </a:rPr>
              <a:t>   点击互动，角色给出气泡回应，配合有限次数的真实动画。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50">
                <a:solidFill>
                  <a:srgbClr val="FF6B9D"/>
                </a:solidFill>
                <a:latin typeface="DejaVu Sans"/>
                <a:ea typeface="Noto Sans CJK SC"/>
              </a:rPr>
              <a:t>● 摇一摇有反应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2B2B3A"/>
                </a:solidFill>
                <a:latin typeface="DejaVu Sans"/>
                <a:ea typeface="Noto Sans CJK SC"/>
              </a:rPr>
              <a:t>   内置 IMU 检测摇动，作为「主动」交互入口（P1 新增）。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50">
                <a:solidFill>
                  <a:srgbClr val="FF6B9D"/>
                </a:solidFill>
                <a:latin typeface="DejaVu Sans"/>
                <a:ea typeface="Noto Sans CJK SC"/>
              </a:rPr>
              <a:t>● 不用时会自己睡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2B2B3A"/>
                </a:solidFill>
                <a:latin typeface="DejaVu Sans"/>
                <a:ea typeface="Noto Sans CJK SC"/>
              </a:rPr>
              <a:t>   15 秒变暗、30 秒真实断电熄屏，触摸唤醒（P0 新增）。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50">
                <a:solidFill>
                  <a:srgbClr val="FF6B9D"/>
                </a:solidFill>
                <a:latin typeface="DejaVu Sans"/>
                <a:ea typeface="Noto Sans CJK SC"/>
              </a:rPr>
              <a:t>● 记得时间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2B2B3A"/>
                </a:solidFill>
                <a:latin typeface="DejaVu Sans"/>
                <a:ea typeface="Noto Sans CJK SC"/>
              </a:rPr>
              <a:t>   RTC 双向同步，冷启动无需重新校准（P1 新增）。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>
                <a:solidFill>
                  <a:srgbClr val="2B2B3A"/>
                </a:solidFill>
                <a:latin typeface="DejaVu Sans"/>
                <a:ea typeface="Noto Sans CJK SC"/>
              </a:rP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6A6A7A"/>
                </a:solidFill>
                <a:latin typeface="DejaVu Sans"/>
                <a:ea typeface="Noto Sans CJK SC"/>
              </a:rPr>
              <a:t>单 UI 上下文 · 事件队列 · 纯逻辑可测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9107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>
                <a:solidFill>
                  <a:srgbClr val="6A6A7A"/>
                </a:solidFill>
                <a:latin typeface="DejaVu Sans"/>
                <a:ea typeface="Noto Sans CJK SC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500">
                <a:solidFill>
                  <a:srgbClr val="FF6B9D"/>
                </a:solidFill>
                <a:latin typeface="DejaVu Sans"/>
                <a:ea typeface="Noto Sans CJK SC"/>
              </a:rPr>
              <a:t>● 单一 UI 上下文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350">
                <a:solidFill>
                  <a:srgbClr val="2B2B3A"/>
                </a:solidFill>
                <a:latin typeface="DejaVu Sans"/>
                <a:ea typeface="Noto Sans CJK SC"/>
              </a:rPr>
              <a:t>   全部 LVGL 对象由一个上下文持有；IMU 等外部输入经有界事件队列进入 controller，不直接绘图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500">
                <a:solidFill>
                  <a:srgbClr val="FF6B9D"/>
                </a:solidFill>
                <a:latin typeface="DejaVu Sans"/>
                <a:ea typeface="Noto Sans CJK SC"/>
              </a:rPr>
              <a:t>● generation 过期机制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350">
                <a:solidFill>
                  <a:srgbClr val="2B2B3A"/>
                </a:solidFill>
                <a:latin typeface="DejaVu Sans"/>
                <a:ea typeface="Noto Sans CJK SC"/>
              </a:rPr>
              <a:t>   角色切换提升 generation，旧动画与旧回调自动失效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500">
                <a:solidFill>
                  <a:srgbClr val="FF6B9D"/>
                </a:solidFill>
                <a:latin typeface="DejaVu Sans"/>
                <a:ea typeface="Noto Sans CJK SC"/>
              </a:rPr>
              <a:t>● 资源内嵌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350">
                <a:solidFill>
                  <a:srgbClr val="2B2B3A"/>
                </a:solidFill>
                <a:latin typeface="DejaVu Sans"/>
                <a:ea typeface="Noto Sans CJK SC"/>
              </a:rPr>
              <a:t>   字体 / 立绘 / 动画帧全部编译进 flash，不整屏解码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10545775" cy="1143000"/>
          </a:xfrm>
          <a:prstGeom prst="roundRect">
            <a:avLst/>
          </a:prstGeom>
          <a:solidFill>
            <a:srgbClr val="F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138928"/>
            <a:ext cx="99971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2B2B3A"/>
                </a:solidFill>
                <a:latin typeface="DejaVu Sans"/>
                <a:ea typeface="Noto Sans CJK SC"/>
              </a:rPr>
              <a:t>关键取舍：把「何时熄屏」「摇动是否触发」「该信主机还是信 RTC」写成不依赖硬件的纯函数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2B2B3A"/>
                </a:solidFill>
                <a:latin typeface="DejaVu Sans"/>
                <a:ea typeface="Noto Sans CJK SC"/>
              </a:rPr>
              <a:t>→ 可在主机上穷举测试，而不是只能靠真机撞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>
                <a:solidFill>
                  <a:srgbClr val="2B2B3A"/>
                </a:solidFill>
                <a:latin typeface="DejaVu Sans"/>
                <a:ea typeface="Noto Sans CJK SC"/>
              </a:rPr>
              <a:t>L2 真实面板断电，而不是「黑图」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29107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>
                <a:solidFill>
                  <a:srgbClr val="6A6A7A"/>
                </a:solidFill>
                <a:latin typeface="DejaVu Sans"/>
                <a:ea typeface="Noto Sans CJK SC"/>
              </a:rPr>
              <a:t>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很多「熄屏」只是把画面刷成黑色——像素还在发光，电还在耗，AMOLED 尤其明显。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本作品做的是两级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15 秒 L1（暂停动画 + 半透明遮罩，视觉已暗），30 秒 L2（对 /dev/lcd0 下发 LCDDEVIO_SETPOWER=0，面板真正断电）。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唤醒时先开面板再重绘，且「唤醒用的那一次触摸被消耗掉」——不会在点亮屏幕的同时误触发底下的按钮。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两级的阈值可配置，为 0 即禁用该级；状态机是纯函数，主机上可完整测试。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>
                <a:solidFill>
                  <a:srgbClr val="2B2B3A"/>
                </a:solidFill>
                <a:latin typeface="DejaVu Sans"/>
                <a:ea typeface="Noto Sans CJK SC"/>
              </a:rPr>
              <a:t>摇一摇：把 IMU 做成交互入口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29107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>
                <a:solidFill>
                  <a:srgbClr val="6A6A7A"/>
                </a:solidFill>
                <a:latin typeface="DejaVu Sans"/>
                <a:ea typeface="Noto Sans CJK SC"/>
              </a:rPr>
              <a:t>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LSM6DSL 加速度计以 20 Hz 轮询（不是中断驱动，这一点如实记录）。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检测算法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指数滑动基线估计重力方向，触发阈值 0.71 g、释放阈值 0.31 g，配 1.2 秒冷却防连发。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加速度平方和会超出 32 位（±16 g），因此用整数开方而非浮点，避免板上无 FPU 时的性能与精度问题。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开发中发现并修掉一个真实缺陷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首次触发的时间戳初值为 0，会把「从未触发」和「在第 0 毫秒触发过」混为一谈，导致开机后 1200 ms 内的摇动被冷却静默吞掉。已用显式标志位修复并加回归测试。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>
                <a:solidFill>
                  <a:srgbClr val="2B2B3A"/>
                </a:solidFill>
                <a:latin typeface="DejaVu Sans"/>
                <a:ea typeface="Noto Sans CJK SC"/>
              </a:rPr>
              <a:t>时钟持久化：徽章自己记得时间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29107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>
                <a:solidFill>
                  <a:srgbClr val="6A6A7A"/>
                </a:solidFill>
                <a:latin typeface="DejaVu Sans"/>
                <a:ea typeface="Noto Sans CJK SC"/>
              </a:rPr>
              <a:t>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没有网络，就没有 NTP。板子断电后时间会丢，每次开机都显示「未校准」，体验上很致命。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方案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RTC（/dev/rtc0）与系统时间双向同步，用纯逻辑模块决策谁更可信——主机时间合法就用主机并写回 RTC；主机非法而 RTC 合法就用 RTC 回填系统时间。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带 60 秒偏差容忍与 2024–2099 年份合法性校验，避免把明显错误的时间写进 RTC 覆盖掉好数据。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决策逻辑完全独立于硬件访问，可在主机上穷举测试。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>
                <a:solidFill>
                  <a:srgbClr val="2B2B3A"/>
                </a:solidFill>
                <a:latin typeface="DejaVu Sans"/>
                <a:ea typeface="Noto Sans CJK SC"/>
              </a:rPr>
              <a:t>openvela 能力使用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6A6A7A"/>
                </a:solidFill>
                <a:latin typeface="DejaVu Sans"/>
                <a:ea typeface="Noto Sans CJK SC"/>
              </a:rPr>
              <a:t>硬性资格：图形 / AI / 多媒体 至少一项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9107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>
                <a:solidFill>
                  <a:srgbClr val="6A6A7A"/>
                </a:solidFill>
                <a:latin typeface="DejaVu Sans"/>
                <a:ea typeface="Noto Sans CJK SC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2B2B3A"/>
                </a:solidFill>
                <a:latin typeface="DejaVu Sans"/>
                <a:ea typeface="Noto Sans CJK SC"/>
              </a:rPr>
              <a:t>图形已落地：LVGL 9.1 来自 openvela apps 树，经 CONFIG_GRAPHICS_LVGL 接入，应用经官方 Kconfig 与 manifest 注册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54577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图形 —— 已落地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LVGL 9.1（apps/graphics/lvgl）+ NuttX LCD/触摸后端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板级 BSP —— 已使用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面板、触摸、传感器、RTC 设备节点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AI —— 未落地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ai_agent 已登记但未同步，且板级无网络驱动；不声称已实现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多媒体 —— 未落地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vendor 树音频仅 CMSIS 寄存器头，无 NuttX 音频驱动；不声称已实现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>
                <a:solidFill>
                  <a:srgbClr val="2B2B3A"/>
                </a:solidFill>
                <a:latin typeface="DejaVu Sans"/>
                <a:ea typeface="Noto Sans CJK SC"/>
              </a:rPr>
              <a:t>验证状态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6A6A7A"/>
                </a:solidFill>
                <a:latin typeface="DejaVu Sans"/>
                <a:ea typeface="Noto Sans CJK SC"/>
              </a:rPr>
              <a:t>主机侧实测通过，真机全部 NOT_RUN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9107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>
                <a:solidFill>
                  <a:srgbClr val="6A6A7A"/>
                </a:solidFill>
                <a:latin typeface="DejaVu Sans"/>
                <a:ea typeface="Noto Sans CJK SC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构建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ninja 退出码 0，0 warning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Flash 占用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9,468,380 B / 16 MB = 56.44%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SRAM 占用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107,180 B / 512 KB = 20.44%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纯逻辑断言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1622 项，0 失败（sh tools/run_logic_test.sh）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字形覆盖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445 条字面量 / 282 个不同宽字符，0 缺失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字体规模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正文字形 4034 个，标题字形 153 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34840"/>
            <a:ext cx="10728655" cy="1691640"/>
          </a:xfrm>
          <a:prstGeom prst="roundRect">
            <a:avLst/>
          </a:prstGeom>
          <a:solidFill>
            <a:srgbClr val="F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53712"/>
            <a:ext cx="1018001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2B2B3A"/>
                </a:solidFill>
                <a:latin typeface="DejaVu Sans"/>
                <a:ea typeface="Noto Sans CJK SC"/>
              </a:rPr>
              <a:t>未验证：屏幕电源 ioctl · 触摸唤醒 · 加速度计读数 · RTC 掉电保时 · 电池续航 · 可佩戴外壳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2B2B3A"/>
                </a:solidFill>
                <a:latin typeface="DejaVu Sans"/>
                <a:ea typeface="Noto Sans CJK SC"/>
              </a:rPr>
              <a:t>串口权限未取得，板子从未烧录 —— 不提供续航数字，不声称「熄屏 = 深睡」，编译通过 ≠ 真机通过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>
                <a:solidFill>
                  <a:srgbClr val="2B2B3A"/>
                </a:solidFill>
                <a:latin typeface="DejaVu Sans"/>
                <a:ea typeface="Noto Sans CJK SC"/>
              </a:rPr>
              <a:t>诚实的边界与下一步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6A6A7A"/>
                </a:solidFill>
                <a:latin typeface="DejaVu Sans"/>
                <a:ea typeface="Noto Sans CJK SC"/>
              </a:rPr>
              <a:t>知道没做什么，比声称都做了重要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9107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>
                <a:solidFill>
                  <a:srgbClr val="6A6A7A"/>
                </a:solidFill>
                <a:latin typeface="DejaVu Sans"/>
                <a:ea typeface="Noto Sans CJK SC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457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已完成（P0 + 部分 P1）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角色切换 / 点击互动 / 真实动画 / 自动熄屏 / 留言 / 纪念日 / IMU 摇动 / RTC 持久化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未做（P1 剩余）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RGB 与震动反馈、系统级低功耗、电量显示、设置页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未做（P0 剩余）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电池独立运行实测、可佩戴外壳、真机 50 项验收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FF6B9D"/>
                </a:solidFill>
                <a:latin typeface="DejaVu Sans"/>
                <a:ea typeface="Noto Sans CJK SC"/>
              </a:rPr>
              <a:t>● AI 通路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>
                <a:solidFill>
                  <a:srgbClr val="2B2B3A"/>
                </a:solidFill>
                <a:latin typeface="DejaVu Sans"/>
                <a:ea typeface="Noto Sans CJK SC"/>
              </a:rPr>
              <a:t>   需要板级网络驱动才能真正落地；在打通前不引入 mock 冒充真实结果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9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>
                <a:solidFill>
                  <a:srgbClr val="FFFFFF"/>
                </a:solidFill>
                <a:latin typeface="DejaVu Sans"/>
                <a:ea typeface="Noto Sans CJK SC"/>
              </a:rPr>
              <a:t>让吧唧，不再是一张死图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FFFFFF"/>
                </a:solidFill>
                <a:latin typeface="DejaVu Sans"/>
                <a:ea typeface="Noto Sans CJK SC"/>
              </a:rPr>
              <a:t>拾迹创游 · 互动电子吧唧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628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>
                <a:solidFill>
                  <a:srgbClr val="FFFFFF"/>
                </a:solidFill>
                <a:latin typeface="DejaVu Sans"/>
                <a:ea typeface="Noto Sans CJK SC"/>
              </a:rPr>
              <a:t>代码遵循 Apache License 2.0</a:t>
            </a:r>
          </a:p>
          <a:p>
            <a:pPr algn="ctr">
              <a:lnSpc>
                <a:spcPct val="140000"/>
              </a:lnSpc>
            </a:pPr>
            <a:r>
              <a:rPr sz="1300">
                <a:solidFill>
                  <a:srgbClr val="FFFFFF"/>
                </a:solidFill>
                <a:latin typeface="DejaVu Sans"/>
                <a:ea typeface="Noto Sans CJK SC"/>
              </a:rPr>
              <a:t>open-vela/contest2026_462_shijichuangyou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